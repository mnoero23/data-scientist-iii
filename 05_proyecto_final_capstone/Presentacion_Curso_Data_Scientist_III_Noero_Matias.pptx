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57566a827142cd" /><Relationship Type="http://schemas.openxmlformats.org/officeDocument/2006/relationships/extended-properties" Target="/docProps/app.xml" Id="Rf57898396f5147c1" /><Relationship Type="http://schemas.openxmlformats.org/officeDocument/2006/relationships/officeDocument" Target="/ppt/presentation.xml" Id="Rfeb6c9662d4e4f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1e7bfda14d4744"/>
  </p:sldMasterIdLst>
  <p:notesMasterIdLst>
    <p:notesMasterId xmlns:r="http://schemas.openxmlformats.org/officeDocument/2006/relationships" r:id="R49b2e0e4aa7f450c"/>
  </p:notesMasterIdLst>
  <p:sldIdLst>
    <p:sldId xmlns:r="http://schemas.openxmlformats.org/officeDocument/2006/relationships" id="256" r:id="Rf943c1ca34f746eb"/>
    <p:sldId xmlns:r="http://schemas.openxmlformats.org/officeDocument/2006/relationships" id="257" r:id="R6b05b9c20aad454e"/>
    <p:sldId xmlns:r="http://schemas.openxmlformats.org/officeDocument/2006/relationships" id="258" r:id="Rce31f033297046fa"/>
    <p:sldId xmlns:r="http://schemas.openxmlformats.org/officeDocument/2006/relationships" id="259" r:id="R28a28f4b78fd47c9"/>
    <p:sldId xmlns:r="http://schemas.openxmlformats.org/officeDocument/2006/relationships" id="260" r:id="Rbce96fb661d04ba7"/>
    <p:sldId xmlns:r="http://schemas.openxmlformats.org/officeDocument/2006/relationships" id="261" r:id="Rb9ae47deaad74fcb"/>
    <p:sldId xmlns:r="http://schemas.openxmlformats.org/officeDocument/2006/relationships" id="262" r:id="Rf821483372f74d86"/>
    <p:sldId xmlns:r="http://schemas.openxmlformats.org/officeDocument/2006/relationships" id="263" r:id="Rd4886ad6eb4f46ae"/>
    <p:sldId xmlns:r="http://schemas.openxmlformats.org/officeDocument/2006/relationships" id="264" r:id="R236b94c6bfef4c58"/>
    <p:sldId xmlns:r="http://schemas.openxmlformats.org/officeDocument/2006/relationships" id="265" r:id="R3e6f9acca4ef46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0a617399624360" /><Relationship Type="http://schemas.openxmlformats.org/officeDocument/2006/relationships/slideMaster" Target="/ppt/slideMasters/slideMaster1.xml" Id="R661e7bfda14d4744" /><Relationship Type="http://schemas.openxmlformats.org/officeDocument/2006/relationships/notesMaster" Target="/ppt/notesMasters/notesMaster1.xml" Id="R49b2e0e4aa7f450c" /><Relationship Type="http://schemas.openxmlformats.org/officeDocument/2006/relationships/presProps" Target="/ppt/presProps.xml" Id="R97296697ad79431e" /><Relationship Type="http://schemas.openxmlformats.org/officeDocument/2006/relationships/tableStyles" Target="/ppt/tableStyles.xml" Id="R5cb6a4851aec446b" /><Relationship Type="http://schemas.openxmlformats.org/officeDocument/2006/relationships/slide" Target="/ppt/slides/slide1.xml" Id="Rf943c1ca34f746eb" /><Relationship Type="http://schemas.openxmlformats.org/officeDocument/2006/relationships/slide" Target="/ppt/slides/slide2.xml" Id="R6b05b9c20aad454e" /><Relationship Type="http://schemas.openxmlformats.org/officeDocument/2006/relationships/slide" Target="/ppt/slides/slide3.xml" Id="Rce31f033297046fa" /><Relationship Type="http://schemas.openxmlformats.org/officeDocument/2006/relationships/slide" Target="/ppt/slides/slide4.xml" Id="R28a28f4b78fd47c9" /><Relationship Type="http://schemas.openxmlformats.org/officeDocument/2006/relationships/slide" Target="/ppt/slides/slide5.xml" Id="Rbce96fb661d04ba7" /><Relationship Type="http://schemas.openxmlformats.org/officeDocument/2006/relationships/slide" Target="/ppt/slides/slide6.xml" Id="Rb9ae47deaad74fcb" /><Relationship Type="http://schemas.openxmlformats.org/officeDocument/2006/relationships/slide" Target="/ppt/slides/slide7.xml" Id="Rf821483372f74d86" /><Relationship Type="http://schemas.openxmlformats.org/officeDocument/2006/relationships/slide" Target="/ppt/slides/slide8.xml" Id="Rd4886ad6eb4f46ae" /><Relationship Type="http://schemas.openxmlformats.org/officeDocument/2006/relationships/slide" Target="/ppt/slides/slide9.xml" Id="R236b94c6bfef4c58" /><Relationship Type="http://schemas.openxmlformats.org/officeDocument/2006/relationships/slide" Target="/ppt/slides/slide10.xml" Id="R3e6f9acca4ef46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b9de16d8c747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a6181bfbe4d3d" /><Relationship Type="http://schemas.openxmlformats.org/officeDocument/2006/relationships/notesMaster" Target="/ppt/notesMasters/notesMaster1.xml" Id="Rd290089bad404a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a96cf14c2a433e" /><Relationship Type="http://schemas.openxmlformats.org/officeDocument/2006/relationships/notesMaster" Target="/ppt/notesMasters/notesMaster1.xml" Id="R43898b65004c40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c7d0644210409e" /><Relationship Type="http://schemas.openxmlformats.org/officeDocument/2006/relationships/notesMaster" Target="/ppt/notesMasters/notesMaster1.xml" Id="Rdcf010099c2945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40d76c811341c5" /><Relationship Type="http://schemas.openxmlformats.org/officeDocument/2006/relationships/notesMaster" Target="/ppt/notesMasters/notesMaster1.xml" Id="R7edfa459d5b642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9d8325f6734801" /><Relationship Type="http://schemas.openxmlformats.org/officeDocument/2006/relationships/notesMaster" Target="/ppt/notesMasters/notesMaster1.xml" Id="Rcbc2f5acae444d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1d8c19563f47d0" /><Relationship Type="http://schemas.openxmlformats.org/officeDocument/2006/relationships/notesMaster" Target="/ppt/notesMasters/notesMaster1.xml" Id="R64e5d40da00e4a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9c17b27f24462c" /><Relationship Type="http://schemas.openxmlformats.org/officeDocument/2006/relationships/notesMaster" Target="/ppt/notesMasters/notesMaster1.xml" Id="R985fe28d1d2a4c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fdb915d07947b8" /><Relationship Type="http://schemas.openxmlformats.org/officeDocument/2006/relationships/notesMaster" Target="/ppt/notesMasters/notesMaster1.xml" Id="R0289e76df17848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80b584f55841fe" /><Relationship Type="http://schemas.openxmlformats.org/officeDocument/2006/relationships/notesMaster" Target="/ppt/notesMasters/notesMaster1.xml" Id="Rc8c7b469f75e4f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395a2b6a2e4e10" /><Relationship Type="http://schemas.openxmlformats.org/officeDocument/2006/relationships/notesMaster" Target="/ppt/notesMasters/notesMaster1.xml" Id="Re579ce6bf51f47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Data Scientist III - NLP &amp; Deep Learning - 2026.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Bases de datos de los módulos 1 a 5 en Notion.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Módulo 1 · Fundamentos de Deep Learning.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Módulo 2 · NLP y preparación de texto.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Módulo 3 · Modelos clásicos para NLP; resultados TF-IDF + LinearSVC.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Módulo 4 · Redes secuenciales y Transformers; pre-entrega LoRA.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Informe técnico final: métricas reconciliadas con ambas matrices de confusión.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Notion: Comparativa TF-IDF vs. Transformer + LoRA.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Síntesis de aprendizajes y entregables de los cinco módulos.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Resumen del curso y proyecto final consolidado.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15272d35a42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01315d3fe84773" /><Relationship Type="http://schemas.openxmlformats.org/officeDocument/2006/relationships/slideLayout" Target="/ppt/slideLayouts/slideLayout1.xml" Id="R34b7e0e0071349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b7e0e0071349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204270b374e4f" /><Relationship Type="http://schemas.openxmlformats.org/officeDocument/2006/relationships/notesSlide" Target="/ppt/notesSlides/notesSlide1.xml" Id="Re35d6ac710e04d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1b0aade7b4368" /><Relationship Type="http://schemas.openxmlformats.org/officeDocument/2006/relationships/notesSlide" Target="/ppt/notesSlides/notesSlide2.xml" Id="R9b320df934254d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338068e8d47cf" /><Relationship Type="http://schemas.openxmlformats.org/officeDocument/2006/relationships/notesSlide" Target="/ppt/notesSlides/notesSlide3.xml" Id="R228e63d2345841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c44f470304dff" /><Relationship Type="http://schemas.openxmlformats.org/officeDocument/2006/relationships/notesSlide" Target="/ppt/notesSlides/notesSlide4.xml" Id="R3c1f83cabce648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82747c0204133" /><Relationship Type="http://schemas.openxmlformats.org/officeDocument/2006/relationships/notesSlide" Target="/ppt/notesSlides/notesSlide5.xml" Id="R5b98db95263c4f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df78d38ce476b" /><Relationship Type="http://schemas.openxmlformats.org/officeDocument/2006/relationships/notesSlide" Target="/ppt/notesSlides/notesSlide6.xml" Id="Rfee183c156e04a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ad3fda06740a9" /><Relationship Type="http://schemas.openxmlformats.org/officeDocument/2006/relationships/chart" Target="/ppt/slides/charts/chart1.xml" Id="R2ee00bdfa7fb428e" /><Relationship Type="http://schemas.openxmlformats.org/officeDocument/2006/relationships/notesSlide" Target="/ppt/notesSlides/notesSlide7.xml" Id="R307f424276a142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1613d696744e5" /><Relationship Type="http://schemas.openxmlformats.org/officeDocument/2006/relationships/notesSlide" Target="/ppt/notesSlides/notesSlide8.xml" Id="Rff70c5e7bf7b46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5d3347b454623" /><Relationship Type="http://schemas.openxmlformats.org/officeDocument/2006/relationships/notesSlide" Target="/ppt/notesSlides/notesSlide9.xml" Id="Rc629b6a46fa04d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5e2a59d124b95" /><Relationship Type="http://schemas.openxmlformats.org/officeDocument/2006/relationships/notesSlide" Target="/ppt/notesSlides/notesSlide10.xml" Id="Rb36ae207ac244de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F1 weighted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TF-IDF + LinearSVC</c:v>
              </c:pt>
              <c:pt idx="1">
                <c:v>DistilBERT + LoRA</c:v>
              </c:pt>
            </c:strLit>
          </c:cat>
          <c:val>
            <c:numLit>
              <c:formatCode>General</c:formatCode>
              <c:ptCount val="2"/>
              <c:pt idx="0">
                <c:v>0.8925</c:v>
              </c:pt>
              <c:pt idx="1">
                <c:v>0.907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01EC0-9E98-4CF0-A8BD-070DDCE0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DATA SCIENTIST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B1B3F-6C58-4402-976F-9EB4C4C1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19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NLP &amp; Deep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9A98C-8DBA-4057-A385-2E9FBD78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75569"/>
                </a:solidFill>
              </a:defRPr>
            </a:pPr>
            <a:r>
              <a:rPr sz="2250" b="0">
                <a:solidFill>
                  <a:srgbClr val="475569"/>
                </a:solidFill>
              </a:rPr>
              <a:t>Resumen integral del curso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7F8B1-AA4D-4C31-9FCC-EDBD82E1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7BC40-5522-4E7E-91FE-DAE8505C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De los fundamentos de redes neuronales a una comparación reproducible entre TF-IDF y DistilBERT + LoRA.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1F05C-E139-44F5-9514-D632A1EC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569"/>
                </a:solidFill>
              </a:defRPr>
            </a:pPr>
            <a:r>
              <a:rPr sz="1350" b="1">
                <a:solidFill>
                  <a:srgbClr val="475569"/>
                </a:solidFill>
              </a:rPr>
              <a:t>Matías Noero · Coderhouse · 2026</a:t>
            </a:r>
          </a:p>
        </p:txBody>
      </p:sp>
    </p:spTree>
    <p:extLst>
      <p:ext uri="{BB962C8B-B14F-4D97-AF65-F5344CB8AC3E}">
        <p14:creationId xmlns:p14="http://schemas.microsoft.com/office/powerpoint/2010/main" val="853390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68A2C2-5A87-431E-9EC5-5899E3CA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RECORRIDO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EB817-633C-4181-AACF-7CD81CEA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Cinco módulos construyeron una solución end-to-end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8902E-7913-4F46-B6E7-E45E0782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133F2-1F0D-4E94-85D9-4FB1DB2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F6579-82AA-4D26-AEAD-6686190D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E59CD-0407-46CF-AF32-61A324A6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Fundamentos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5FE28-C37B-4C19-BDB6-52CDB4F5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Entrenamiento y validación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52ADC-2054-4556-9B0E-BE147860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241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9D228-02E3-48BF-AC3D-4C0087CC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0375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45B9E-6AE4-4423-97FB-42284630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Corpus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089AD-DDA9-4756-9A34-53FA33E2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Limpieza y tokenización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DCC18-14E9-4BF8-8275-7DBA2180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20BDE-E3DF-48C8-870C-77ED492A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E3747-F474-4B1C-A4BD-DD70E53D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9F6D3-8DC8-4E27-9204-56A1D35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TF-IDF + LinearSVC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37312-0A7D-40DF-A698-E05FBCD7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241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1DEE4-3143-451B-BA99-17A8689D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0375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1BAA8-F4D6-4B75-8000-9B7082E4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Contexto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6A9F9-7BBC-460E-BAF3-0431E242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DistilBERT + LoRA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9E126-4BAB-4EFA-8812-E76F53D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241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486BF-EF03-4051-B043-A7199A1A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0375"/>
            <a:ext cx="1762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94438-84A3-4EEF-9A57-6F6AF65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4C373-BB40-4AE9-978E-156549CB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Comparación consolidada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4E61A-077B-419D-8523-E9192DD7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Una sola población de prueba sostiene la comparación final.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3294A-04C6-462A-84A2-457B0C2D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AG News · 2.000 noticias · 500 por clase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DD466-906E-4700-8DCB-7D480FF5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DATA SCIENTIST III · MATÍAS NOERO ·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810E39-C0F8-46A8-AC75-BA28995F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673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E1349-9088-4539-8570-9DF02355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MÓDULO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173EA-E25A-4EEC-AAAD-75CF40A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Aprender a entrenar antes de sofisticar el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7B283-42B7-4684-8FFB-74356A3D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F195F-B296-4A57-8EA1-9439D950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53194-BA9D-44F9-BCC5-0BF5B981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6181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Perceptrón, activaciones y no linealidad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DD088-8C57-4478-A4F4-5EE190F3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15026-F236-48A6-AEDB-8EAD8446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6181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Forward pass, pérdida y arquitectura de capas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49C5A-0048-465F-8C2A-F3BF9727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2CC20-59D1-4CA4-ABD8-576CE522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6181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Backpropagation y descenso de gradiente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8065F-5D8A-4B77-8607-EB82CF3C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69A0D-A263-4470-9A4F-2198ABB9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6181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PyTorch: tensores, autograd, Adam y validación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957B5-FF87-4FCD-8E22-205C84AB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3429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33602-E7E2-4E26-941F-D0215C62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93,33%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78627-49C0-49E7-B1E3-4C193626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accuracy de validación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23E97-E673-4617-A329-EB0429ED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0,1689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5C34C-6CBA-4877-902A-941C1022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loss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25477-DA7C-4961-B354-E0938502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Producto: pipeline de entrenamiento y validación reutilizable.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6B635-AF19-4FB7-91E8-2A1B8099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DATA SCIENTIST III · MATÍAS NOERO ·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B1969-5550-429D-B303-AB811312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9025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400A9-852F-4CB8-8333-3E2DD406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MÓDULO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2CF35-3B3A-440A-9B03-B7A655F6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El corpus se convirtió en un activo medible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9B266-B45F-4125-87DB-0DB6672C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4FDD3-3D79-47EF-9DC0-B50F9157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8.000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7BCB3-E1E4-4140-8643-9BD5822D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noticias de entrenamiento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84410-C76A-4895-8987-BF9DB0A6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32311-7BB6-4130-A126-D164C079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146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clases balanceadas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ED070-D2C6-467C-B313-D43E9707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7CB45-ECCD-4AF5-86D0-45712645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tokens en percentil 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EB227-FC4B-4D7C-9903-A2A5914B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45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4BF25-6977-4F87-B227-322341F8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CA0C-C614-46AF-B312-0B356D3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975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Regex y normalización estructural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31F9E-D528-4E66-86F4-5969AE63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8DD8-0ADE-418C-B429-1684EBF3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975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Lematización, stopwords y calidad lingüística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2D59D-0993-442B-B5CC-4EB78A95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18547-EB42-4799-AC7E-C3D56ABF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975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Tokenización por palabras y subpalabras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3C978-5CE1-4B60-8C6C-6DEACFE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F1776-E4B2-4F70-BB0D-342FFC6C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14975"/>
            <a:ext cx="975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EDA antes de modelar: longitud, balance y ruido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4CCEE-D6ED-4096-928E-0E2131F1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DATA SCIENTIST III · MATÍAS NOERO ·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7DB28-EF4A-43EA-BB54-EDCB96AA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3264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44438-EA04-4F80-9DE1-0D2BE3FE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MÓDULO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1C126-C0CA-42B1-845C-F56F740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El baseline clásico estableció una referencia fuerte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FDC45-00B7-4C83-A466-E0C45CFA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6C5A4-6B1E-4F04-8539-A6CD022A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TF-IDF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57980-A091-4123-AC8B-480B4791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unigramas + bigramas · 25.886 características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98E6F-BA42-4018-B3EB-B1A04EEE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LinearSVC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70ECB-E25C-4A31-9A70-129497D3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C=1 · clasificación multiclase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66EDC-472F-41CA-B5B3-B050B140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667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1011E-0368-43AA-A1A2-5FFF6506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384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0,8925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43917-8FA7-44A8-931A-ECE59ABD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575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F1 weighted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2356A-6AAC-4060-B59E-5C838C57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5287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1.785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884E1-A153-4FDF-B706-38367548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72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aciertos sobre 2.000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80D0F-6F09-4E6E-9020-DCBEA5BA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Quiz de evaluación avanzada: 5/5 respuestas correctas.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15DE0-5C23-43E9-A953-0093795D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DATA SCIENTIST III · MATÍAS NOERO ·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A5080-A20A-4549-8A2B-62F4824F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5391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5FCD5-76A9-46B0-8872-60DC1554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MÓDULO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C76CF-7273-471C-B4D8-6CBF7A04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LoRA llevó el contexto semántico a un costo controlado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A7907-91AB-4225-A854-7E32E0E5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350F6-BDB4-410E-833B-969F922C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55D28-F504-444A-9274-09D6176F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556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Modelo base: distilbert-base-uncased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0BCD8-B7DF-42E8-94B4-3B518258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8B77A-19C3-42D2-A56F-86A2CDA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556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LoRA: r=8 · alpha=16 · dropout=0,1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C857A-7B72-41C9-9973-8E924358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3E698-46F0-4FF3-B7E6-74C0D44C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556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Target modules: q_lin y v_lin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B8C17-5133-4357-9B3A-502C0080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98BA3-A4AC-4322-A712-01A476D0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24325"/>
            <a:ext cx="556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Learning rate 2e-4 · 3 épocas · GPU T4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8D87C-3D2A-4434-8799-2B091F73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4143375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2BC62-D47A-4D48-9429-02A28C83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1,095%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0AB1A-496C-4821-89C3-757D7F07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parámetros entrenables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F63AF-9CF6-4D6E-A2AC-C3948374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0,9070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45ED6-9BBC-4EB8-84C0-A22590EA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053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F1 weighted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FC8E0-EA40-4A1C-B5F8-116BB91B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741.124 de 67.697.672 parámetros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FF8B3-3DF4-4E1A-B8CC-EAEE1FBE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DATA SCIENTIST III · MATÍAS NOERO ·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46859-2B3E-41E0-B025-424FE6BD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7766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2D616-E118-4400-AFB5-75F767F6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585D4-E20D-47C4-8A3C-4A90694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LoRA mejora el desempeño sin romper la comparabilidad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6DAA4-1C78-4F62-B4EE-AC735F51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Mismo ag_news_test.csv · 2.000 noticias · mismo orden de clases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A9D7F-A5A4-4200-AF3B-E82CF41C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76300" y="2524125"/>
          <a:ext xmlns:a="http://schemas.openxmlformats.org/drawingml/2006/main" cx="6810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e00bdfa7fb428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84459-F34E-49E4-9CE1-0287269C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62225"/>
            <a:ext cx="3000375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7DB8D-EA94-4AB4-8D4A-7952D024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A34A"/>
                </a:solidFill>
              </a:defRPr>
            </a:pPr>
            <a:r>
              <a:rPr sz="3000" b="1">
                <a:solidFill>
                  <a:srgbClr val="16A34A"/>
                </a:solidFill>
              </a:rPr>
              <a:t>+1,46 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FC1C7-F134-4776-AD72-C116597B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569"/>
                </a:solidFill>
              </a:defRPr>
            </a:pPr>
            <a:r>
              <a:rPr sz="1350" b="1">
                <a:solidFill>
                  <a:srgbClr val="475569"/>
                </a:solidFill>
              </a:rPr>
              <a:t>en F1 weighted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5D365-4FFC-420B-B0ED-B61DE075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63EB"/>
                </a:solidFill>
              </a:defRPr>
            </a:pPr>
            <a:r>
              <a:rPr sz="2625" b="1">
                <a:solidFill>
                  <a:srgbClr val="2563EB"/>
                </a:solidFill>
              </a:rPr>
              <a:t>+29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98586-A3D3-4AC8-9386-A2738827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529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569"/>
                </a:solidFill>
              </a:defRPr>
            </a:pPr>
            <a:r>
              <a:rPr sz="1350" b="1">
                <a:solidFill>
                  <a:srgbClr val="475569"/>
                </a:solidFill>
              </a:rPr>
              <a:t>aciertos netos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A8FD3-C365-4A91-A8C7-379F2424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DATA SCIENTIST III · MATÍAS NOERO ·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CA58B-7A96-46EA-B7B3-FC09384A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44721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4AF1BC-252A-4494-994F-30D0BF90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45612-E9F9-41CB-8493-F21FA052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No existe un ganador absoluto: existe un modelo adecuado al 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7C116-3C25-420D-BE9B-629D3643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7B184-1BB3-4DED-A563-335D564B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TF-IDF + LinearSVC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F2B70-6B01-4A9A-938A-33E4CE51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42110-FF37-4EE2-A38E-4775F46E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4276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CPU y baja latencia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9A9A8-AFB2-4F88-935E-0F207F08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91CA6-95BC-497E-83E1-D33A1C6B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4276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Pipeline 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808AF-1F5C-41A8-A078-5609292C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1D0B8-316C-42EA-9B89-80CE2CB3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276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Interpretación léxica directa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0F7AF-AD4A-43B2-BBB0-21DEC5B3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360F7-89C7-4E4C-A5F2-84D47A3A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76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Baseline competitivo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75C0A-A233-4DDB-B42D-D60236EB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33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E03B5-F12E-43E7-A0B8-24794BC0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DistilBERT + LoRA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5295F-02D0-4F7A-BAB2-20C6CF36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5EACA-A1FE-40D9-B4D3-AAB7646A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4276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Mayor F1 global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2C2DA-00F0-4C9F-9D0D-876F5EE6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8E7ED-CE39-4233-A409-FA939241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4276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Embeddings contextuales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C6349-2247-46C1-B5C3-DD25BE41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8D10B-B40A-4EF3-9BE9-771D7632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4276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Mejor representación semántica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518A0-EC48-4252-8362-62DDFCBE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98DB2-FE27-4186-86C1-3AC56101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14850"/>
            <a:ext cx="4276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Ajuste eficiente con PEFT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D77B9B-29B3-497E-9553-BC7F58EE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45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Recomendación: LoRA para calidad predictiva; TF-IDF para simplicidad operativa.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FBCA79-18A1-4296-BBC3-A8E07BE9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DATA SCIENTIST III · MATÍAS NOERO ·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11476-8B96-4706-915A-AABC797A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303263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EA308-1D76-4BE9-8385-A8D7373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CAPACIDADES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9B5D3-C35E-41A5-86B9-C213451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El curso consolidó criterio técnico, no solo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6AE81-57C2-42ED-8C6A-2741645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AFDE5-87E2-4360-976D-74107338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Construir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D308D-CD77-485A-ABC7-8FDD4B6A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FDE9E-E9FC-4322-9F84-90FF3E55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Pipelines PyTorch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Corpus reproducibles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Modelos clásicos y Transformers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493A9-2180-4A78-9696-5F7C38B4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289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Evaluar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3B217-4E71-48A2-8F3F-0584C98A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7D0ED-65E7-4D4E-A957-CA8A0AB7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6710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Precision · Recall · F1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Matrices de confusión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Comparaciones sobre el mismo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D66B5-846B-471F-BE04-2435453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289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Decidir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1F474-B0D2-4777-9080-B447E861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52775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E34A8-B08E-4894-85B5-970DCBA0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Costo vs. desempeño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Interpretabilidad honesta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Limitaciones y trazabilidad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1F0DB-A0E9-4FEB-A324-02E47A44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La evidencia se convirtió en una recomendación defendible.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2DCA9-5F6B-4E8D-80E2-A818C199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DATA SCIENTIST III · MATÍAS NOERO ·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177C9-9222-4F42-9C5F-4F283579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39852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51A9B-6F58-42B0-AE39-2D24CFC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A5FA"/>
                </a:solidFill>
              </a:defRPr>
            </a:pPr>
            <a:r>
              <a:rPr sz="1125" b="1">
                <a:solidFill>
                  <a:srgbClr val="60A5FA"/>
                </a:solidFill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4732C-4A33-430A-8CE6-33D74824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Un proyecto completo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vale más que un modelo aislado.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05747-6476-49FC-BA39-014520D7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Problema claro · datos controlados · modelos comparables · límites explícitos · decisión técnica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F4B8C-74A7-4BDE-86D0-3393433A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44123-2B2E-4BAD-81B3-9038E771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Próximo paso: presentar, publicar y convertir el capstone en una pieza de portfolio.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53B52-E6D7-4E1D-A9D4-3B6B1B0C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MATÍAS NOERO · DATA SCIENTIST III · 2026</a:t>
            </a:r>
          </a:p>
        </p:txBody>
      </p:sp>
    </p:spTree>
    <p:extLst>
      <p:ext uri="{BB962C8B-B14F-4D97-AF65-F5344CB8AC3E}">
        <p14:creationId xmlns:p14="http://schemas.microsoft.com/office/powerpoint/2010/main" val="1381758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2026-08-08T15:44:14.0920000Z</dcterms:created>
  <dcterms:modified xsi:type="dcterms:W3CDTF">2026-08-08T15:44:14.0920000Z</dcterms:modified>
</coreProperties>
</file>